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474" y="5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Hoja_de_c_lculo_de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Ingresos mensuales USD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E8F0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Mes 1</c:v>
                </c:pt>
                <c:pt idx="1">
                  <c:v>Mes 2</c:v>
                </c:pt>
                <c:pt idx="2">
                  <c:v>Mes 3</c:v>
                </c:pt>
                <c:pt idx="3">
                  <c:v>Mes 4</c:v>
                </c:pt>
                <c:pt idx="4">
                  <c:v>Mes 6</c:v>
                </c:pt>
                <c:pt idx="5">
                  <c:v>Mes 9</c:v>
                </c:pt>
                <c:pt idx="6">
                  <c:v>Mes 12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297</c:v>
                </c:pt>
                <c:pt idx="1">
                  <c:v>297</c:v>
                </c:pt>
                <c:pt idx="2">
                  <c:v>990</c:v>
                </c:pt>
                <c:pt idx="3">
                  <c:v>990</c:v>
                </c:pt>
                <c:pt idx="4">
                  <c:v>2475</c:v>
                </c:pt>
                <c:pt idx="5">
                  <c:v>4455</c:v>
                </c:pt>
                <c:pt idx="6">
                  <c:v>5940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E2-4C6B-92EA-194175B3D2C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FA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D4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FA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C1A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537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SPEECH: Buenas tardes a todos. Hoy les presento AquaAlert IoT — la solución que predice fugas de agua antes de que ocurran, y en Bolivia eso vale millones.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SPEECH: En Latinoamérica, el 45% del agua potable se pierde en fugas. Para una fábrica en Santa Cruz, eso se traduce en cientos de dólares perdidos cada noche sin que nadie lo sepa. Y las soluciones que existen cuestan fortunas — están hechas para multinacionales, no para las PyMEs bolivianas.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SPEECH: La solución funciona en 4 pasos. Un sensor de $25 instalado en la tubería envía datos cada 30 segundos al ESP32. Nuestro backend analiza los patrones. Luego el Agente IA — usando Claude de Anthropic — interpreta esos datos y manda un mensaje de WhatsApp en lenguaje humano: Juan, hay una fuga que te está costando $45 esta noche. Revísalo 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SPEECH: Esto es lo que nos diferencia de todo lo que existe. No somos una alarma de incendios — somos el detector de humo. El Agente IA analiza micro-caídas de presión, patrones de flujo nocturno, variaciones de temperatura y el historial de desgaste de cada tubería. Resultado: te avisamos con 4 a 6 horas de anticipación antes de que la fuga ocurra.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SPEECH: AquaAlert cumple los tres pilares del triple impacto. Económico: el cliente ahorra 30% en agua y energía desde el primer mes. Ambiental: cada instalación evita casi 5,000 litros desperdiciados por noche. Social: más agua disponible para las comunidades de Santa Cruz y empleos técnicos locales.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SPEECH: El modelo es SaaS. El cliente paga una suscripción mensual y nosotros nos encargamos de todo. El plan más popular es el PyME a $149 al mes — y el cliente lo recupera inmediatamente porque solo en fugas no detectadas estaba perdiendo más que eso cada 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SPEECH: El mercado en Santa Cruz es enorme — 12,000 PyMEs industriales. Nosotros vamos por las 3,500 con mayor consumo hídrico. Meta año 1: 60 clientes, lo que nos da casi $6,000 de ingreso mensual recurrente. Y esto es solo Santa Cruz — el modelo es replicable en toda Bolivia y Latinoamérica.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SPEECH: La solución está construida con tecnología real. El hardware es el ESP32 con sensores de flujo de $25. El backend en Python analiza los patrones. El Agente IA usa la API de Claude de Anthropic para interpretar los datos y generar alertas en lenguaje humano. Todo el código está en GitHub y el demo está funcionando en este momento.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SPEECH: El agua es el recurso más valioso del planeta. En Bolivia, en Santa Cruz, se está desperdiciando cada noche y nadie lo sabe. AquaAlert IoT cambia eso — con hardware de $25, inteligencia artificial real, y un modelo de negocio que se paga solo desde el primer mes. Somos AquaAlert. Gracias.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00D4AA">
              <a:alpha val="8000"/>
            </a:srgbClr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82880"/>
            <a:ext cx="2926080" cy="292608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 · HACKATON 2025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3258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365760" y="20574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IoT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hídrico predictivo + reactivo con Agente IA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3520440"/>
            <a:ext cx="1828800" cy="292608"/>
          </a:xfrm>
          <a:prstGeom prst="rect">
            <a:avLst/>
          </a:prstGeom>
          <a:solidFill>
            <a:srgbClr val="00D4AA">
              <a:alpha val="15000"/>
            </a:srgbClr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520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Agua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3520440"/>
            <a:ext cx="1828800" cy="292608"/>
          </a:xfrm>
          <a:prstGeom prst="rect">
            <a:avLst/>
          </a:prstGeom>
          <a:solidFill>
            <a:srgbClr val="00D4AA">
              <a:alpha val="15000"/>
            </a:srgbClr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3520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Energía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3520440"/>
            <a:ext cx="1828800" cy="292608"/>
          </a:xfrm>
          <a:prstGeom prst="rect">
            <a:avLst/>
          </a:prstGeom>
          <a:solidFill>
            <a:srgbClr val="00D4AA">
              <a:alpha val="15000"/>
            </a:srgbClr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3520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Industria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3520440"/>
            <a:ext cx="1828800" cy="292608"/>
          </a:xfrm>
          <a:prstGeom prst="rect">
            <a:avLst/>
          </a:prstGeom>
          <a:solidFill>
            <a:srgbClr val="00D4AA">
              <a:alpha val="15000"/>
            </a:srgbClr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3520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Triple Impacto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Cruz de la Sierra, Bolivia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agua se pierde y nadie lo sabe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560320" cy="1463040"/>
          </a:xfrm>
          <a:prstGeom prst="rect">
            <a:avLst/>
          </a:prstGeom>
          <a:solidFill>
            <a:srgbClr val="EF4444">
              <a:alpha val="12000"/>
            </a:srgbClr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agua potable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 en fugas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llegar al usuario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371600"/>
            <a:ext cx="5577840" cy="1005840"/>
          </a:xfrm>
          <a:prstGeom prst="rect">
            <a:avLst/>
          </a:prstGeom>
          <a:solidFill>
            <a:srgbClr val="0C1A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14630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Doble pérdida económica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37560" y="181051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empresas pagan por el agua desperdiciada Y por la energía que costó bombearla.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2560320"/>
            <a:ext cx="5577840" cy="1005840"/>
          </a:xfrm>
          <a:prstGeom prst="rect">
            <a:avLst/>
          </a:prstGeom>
          <a:solidFill>
            <a:srgbClr val="0C1A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651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PyMEs desprotegidas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99923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soluciones de Siemens o Schneider cuestan decenas de miles de dólares. Inaccesibles.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3749040"/>
            <a:ext cx="5577840" cy="1005840"/>
          </a:xfrm>
          <a:prstGeom prst="rect">
            <a:avLst/>
          </a:prstGeom>
          <a:solidFill>
            <a:srgbClr val="0C1A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38404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Problema local real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418795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Cruz tiene +12,000 PyMEs industriales. La mayoría sin ningún sistema de monitoreo.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inteligente de bajo costo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1920240" cy="1554480"/>
          </a:xfrm>
          <a:prstGeom prst="rect">
            <a:avLst/>
          </a:prstGeom>
          <a:solidFill>
            <a:srgbClr val="0C1A35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2128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YF-S201 + ESP32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$17–34 USD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9659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14600" y="1417320"/>
            <a:ext cx="1920240" cy="1554480"/>
          </a:xfrm>
          <a:prstGeom prst="rect">
            <a:avLst/>
          </a:prstGeom>
          <a:solidFill>
            <a:srgbClr val="0C1A35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1460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14600" y="22128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flujo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detección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19659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663440" y="1417320"/>
            <a:ext cx="1920240" cy="1554480"/>
          </a:xfrm>
          <a:prstGeom prst="rect">
            <a:avLst/>
          </a:prstGeom>
          <a:solidFill>
            <a:srgbClr val="0C1A35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2128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OpenAI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 datos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196596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812280" y="1417320"/>
            <a:ext cx="1920240" cy="1554480"/>
          </a:xfrm>
          <a:prstGeom prst="rect">
            <a:avLst/>
          </a:prstGeom>
          <a:solidFill>
            <a:srgbClr val="0C1A35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15087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1228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12280" y="221284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web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154680"/>
            <a:ext cx="8412480" cy="1554480"/>
          </a:xfrm>
          <a:prstGeom prst="rect">
            <a:avLst/>
          </a:prstGeom>
          <a:solidFill>
            <a:srgbClr val="071A0A"/>
          </a:solidFill>
          <a:ln w="6350">
            <a:solidFill>
              <a:srgbClr val="1A3D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Mensaje generado por el Agente IA: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56616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🚨 AquaAlert — Alerta Urgente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Hola Juan, detectamos una fuga activa en Tubería C — Patio Exterior.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Flujo anómalo: 0.31 L/min (esperado: 0.00 L/min a esta hora)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💸 Costo estimado esta noche: $45  |  Acción: Revisar válvula sector B inmediatamente.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DIFERENCIADOR CLAVE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avisamos cuando hay fuga.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predecimos antes de que ocurra.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3931920" cy="2560320"/>
          </a:xfrm>
          <a:prstGeom prst="rect">
            <a:avLst/>
          </a:prstGeom>
          <a:solidFill>
            <a:srgbClr val="0C1A35"/>
          </a:solidFill>
          <a:ln w="6350">
            <a:solidFill>
              <a:srgbClr val="1E2D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74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REACTIVO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Detecta fuga cuando ya ocurrió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7432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El daño ya está hecho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Solo alerta del problema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Respuesta en minutos u horas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783080"/>
            <a:ext cx="4206240" cy="2560320"/>
          </a:xfrm>
          <a:prstGeom prst="rect">
            <a:avLst/>
          </a:prstGeom>
          <a:solidFill>
            <a:srgbClr val="0A1F0E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874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PREDICTIVO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2860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Detecta tendencias anómalas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743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Actúa antes del daño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200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Analiza 4 variables con IA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657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Alerta con 4–6h de anticipación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solidFill>
            <a:srgbClr val="F59E0B">
              <a:alpha val="1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5445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4 variables analizadas: microgotas progresivas · patrón nocturno · variación de temperatura · historial de desgaste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IMPACTO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negocio que hace bien al mundo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743200" cy="3291840"/>
          </a:xfrm>
          <a:prstGeom prst="rect">
            <a:avLst/>
          </a:prstGeom>
          <a:solidFill>
            <a:srgbClr val="0C1A3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727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993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Económico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5760" y="2926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reducción en factura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agua y energía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40156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PyMEs recuperan su inversión en el primer mes. ROI inmediato y medible.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743200" cy="3291840"/>
          </a:xfrm>
          <a:prstGeom prst="rect">
            <a:avLst/>
          </a:prstGeom>
          <a:solidFill>
            <a:srgbClr val="0C1A35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417320"/>
            <a:ext cx="27432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5727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46120" y="1993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Ambiental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2331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4,800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3246120" y="2926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litros/noche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evitados por cliente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340156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instalación reduce directamente el desperdicio hídrico. Impacto escalable.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417320"/>
            <a:ext cx="2743200" cy="3291840"/>
          </a:xfrm>
          <a:prstGeom prst="rect">
            <a:avLst/>
          </a:prstGeom>
          <a:solidFill>
            <a:srgbClr val="0C1A35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417320"/>
            <a:ext cx="27432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157276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126480" y="1993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Social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26480" y="2331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126480" y="2926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 disponible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comunidades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340156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agua en la red para familias. Empleos técnicos locales en SCZ.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escalable desde Bolivia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06040" cy="2926080"/>
          </a:xfrm>
          <a:prstGeom prst="rect">
            <a:avLst/>
          </a:prstGeom>
          <a:solidFill>
            <a:srgbClr val="0C1A35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508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Básico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punto de monitoreo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9067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Alertas WhatsApp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438144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Dashboard web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785616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Soporte básico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606040" cy="2926080"/>
          </a:xfrm>
          <a:prstGeom prst="rect">
            <a:avLst/>
          </a:prstGeom>
          <a:solidFill>
            <a:srgbClr val="0A1E1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0" y="1298448"/>
            <a:ext cx="169164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1298448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0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POPULAR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0" y="1508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18288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$149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3200400" y="24231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74320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Hasta 5 puntos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309067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Predicción IA avanzada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37560" y="3438144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Reportes mensuales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3785616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Soporte prioritario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1417320"/>
            <a:ext cx="2606040" cy="2926080"/>
          </a:xfrm>
          <a:prstGeom prst="rect">
            <a:avLst/>
          </a:prstGeom>
          <a:solidFill>
            <a:srgbClr val="0C1A35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1508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35040" y="18288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$349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6035040" y="2423160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2743200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Puntos ilimitados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72200" y="3090672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personalizada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3438144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Analítica avanzada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3785616"/>
            <a:ext cx="2331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Soporte 24/7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solidFill>
            <a:srgbClr val="10B981">
              <a:alpha val="12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5445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ROI para el cliente: inversión recuperada en el primer mes · Hardware: $17–34 · Ahorro mensual: $80–150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FINANCIERA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y crecimiento — Año 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011680" cy="1005840"/>
          </a:xfrm>
          <a:prstGeom prst="rect">
            <a:avLst/>
          </a:prstGeom>
          <a:solidFill>
            <a:srgbClr val="0C1A35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81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9385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PyMEs industriales SCZ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14600" y="1417320"/>
            <a:ext cx="2011680" cy="1005840"/>
          </a:xfrm>
          <a:prstGeom prst="rect">
            <a:avLst/>
          </a:prstGeom>
          <a:solidFill>
            <a:srgbClr val="0C1A35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481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3,500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14600" y="19385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direccionable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2011680" cy="1005840"/>
          </a:xfrm>
          <a:prstGeom prst="rect">
            <a:avLst/>
          </a:prstGeom>
          <a:solidFill>
            <a:srgbClr val="0C1A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481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clientes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63440" y="19385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año 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12280" y="1417320"/>
            <a:ext cx="2011680" cy="1005840"/>
          </a:xfrm>
          <a:prstGeom prst="rect">
            <a:avLst/>
          </a:prstGeom>
          <a:solidFill>
            <a:srgbClr val="0C1A35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14813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$5,940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12280" y="193852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mensual mes 12</a:t>
            </a:r>
            <a:endParaRPr lang="en-US" sz="10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365760" y="2606040"/>
          <a:ext cx="84124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TÉCNICO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 robusta con Agente IA real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743200" cy="1417320"/>
          </a:xfrm>
          <a:prstGeom prst="rect">
            <a:avLst/>
          </a:prstGeom>
          <a:solidFill>
            <a:srgbClr val="0C1A35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17320"/>
            <a:ext cx="27432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27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IoT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ESP32 + YF-S201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167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MicroPython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597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WiFi MQTT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743200" cy="1417320"/>
          </a:xfrm>
          <a:prstGeom prst="rect">
            <a:avLst/>
          </a:prstGeom>
          <a:solidFill>
            <a:srgbClr val="0C1A35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417320"/>
            <a:ext cx="2743200" cy="6400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527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1874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Python / FastAPI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167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Lógica de detección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29000" y="24597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Simulación datos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417320"/>
            <a:ext cx="2743200" cy="1417320"/>
          </a:xfrm>
          <a:prstGeom prst="rect">
            <a:avLst/>
          </a:prstGeom>
          <a:solidFill>
            <a:srgbClr val="0C1A35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417320"/>
            <a:ext cx="27432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527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IA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1874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Claude API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167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Análisis predictivo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09360" y="24597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NLP para alertas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17520"/>
            <a:ext cx="2743200" cy="1417320"/>
          </a:xfrm>
          <a:prstGeom prst="rect">
            <a:avLst/>
          </a:prstGeom>
          <a:solidFill>
            <a:srgbClr val="0C1A35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017520"/>
            <a:ext cx="27432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3474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React Dashboard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3767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Recharts (gráficos)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0599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Tiempo real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46120" y="3017520"/>
            <a:ext cx="2743200" cy="1417320"/>
          </a:xfrm>
          <a:prstGeom prst="rect">
            <a:avLst/>
          </a:prstGeom>
          <a:solidFill>
            <a:srgbClr val="0C1A35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46120" y="3017520"/>
            <a:ext cx="274320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31272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29000" y="34747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Firebase DB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29000" y="37673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Vercel hosting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429000" y="40599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GitHub repo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4617720"/>
            <a:ext cx="8412480" cy="301752"/>
          </a:xfrm>
          <a:prstGeom prst="rect">
            <a:avLst/>
          </a:prstGeom>
          <a:solidFill>
            <a:srgbClr val="A78BFA">
              <a:alpha val="12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636008"/>
            <a:ext cx="8412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Repositorio GitHub público · Agente IA integrado con APIs reales · Demo en vivo disponible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274320"/>
            <a:ext cx="4572000" cy="4572000"/>
          </a:xfrm>
          <a:prstGeom prst="ellipse">
            <a:avLst/>
          </a:prstGeom>
          <a:solidFill>
            <a:srgbClr val="00D4AA">
              <a:alpha val="6000"/>
            </a:srgbClr>
          </a:solidFill>
          <a:ln w="635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822960"/>
            <a:ext cx="3291840" cy="3291840"/>
          </a:xfrm>
          <a:prstGeom prst="ellipse">
            <a:avLst/>
          </a:prstGeom>
          <a:solidFill>
            <a:srgbClr val="00D4AA">
              <a:alpha val="10000"/>
            </a:srgbClr>
          </a:solidFill>
          <a:ln w="635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6400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F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agua es el recurso más valioso.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AquaAlert IoT lo protege.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de APIs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hackaton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5176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65176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predictiva 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6344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$5,940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mensual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7512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mes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67512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para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AquaAlert · Build with AI Hackaton · Santa Cruz, Bolivia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1154</Words>
  <Application>Microsoft Office PowerPoint</Application>
  <PresentationFormat>Presentación en pantalla (16:9)</PresentationFormat>
  <Paragraphs>173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AquaAlert IoT — Pitch Deck</dc:title>
  <dc:subject>PptxGenJS Presentation</dc:subject>
  <dc:creator>PptxGenJS</dc:creator>
  <cp:lastModifiedBy>HP</cp:lastModifiedBy>
  <cp:revision>1</cp:revision>
  <dcterms:created xsi:type="dcterms:W3CDTF">2026-05-30T16:55:14Z</dcterms:created>
  <dcterms:modified xsi:type="dcterms:W3CDTF">2026-05-31T09:20:30Z</dcterms:modified>
</cp:coreProperties>
</file>